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Giá trị giao dịch (VNĐ)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Nạp điện thoại</c:v>
                </c:pt>
                <c:pt idx="1">
                  <c:v>Học phí</c:v>
                </c:pt>
                <c:pt idx="2">
                  <c:v>Vé xe buýt</c:v>
                </c:pt>
                <c:pt idx="3">
                  <c:v>Căng tin</c:v>
                </c:pt>
                <c:pt idx="4">
                  <c:v>Vé sự kiện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500000</c:v>
                </c:pt>
                <c:pt idx="1">
                  <c:v>2400000</c:v>
                </c:pt>
                <c:pt idx="2">
                  <c:v>120000</c:v>
                </c:pt>
                <c:pt idx="3">
                  <c:v>137000</c:v>
                </c:pt>
                <c:pt idx="4">
                  <c:v>300000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6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VNĐ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65D"/>
                </a:solidFill>
                <a:latin typeface="Arial"/>
              </a:defRPr>
            </a:pPr>
            <a:r>
              <a:t>PAYKX | BÁO CÁO THÁNG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F75B5"/>
                </a:solidFill>
                <a:latin typeface="Arial"/>
              </a:defRPr>
            </a:pPr>
            <a:r>
              <a:t>Doanh thu thuần đạt 3,42 triệu đồng từ 12 giao dịch mẫu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Arial"/>
              </a:defRPr>
            </a:pPr>
            <a:r>
              <a:t>Bản mô phỏng phục vụ bài tập | Lớp HCMKS26CNTT2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65D"/>
                </a:solidFill>
                <a:latin typeface="Arial"/>
              </a:defRPr>
            </a:pPr>
            <a:r>
              <a:t>Doanh thu thuần được tính sau khi trừ phí đối tác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Tổng giá trị giao dịch: 3.507.000 VNĐ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Tổng phí đối tác: 12.700 VNĐ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Giá trị sau phí: 3.494.300 VNĐ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PayKX | Báo cáo đối soát tháng 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65D"/>
                </a:solidFill>
                <a:latin typeface="Arial"/>
              </a:defRPr>
            </a:pPr>
            <a:r>
              <a:t>Nạp điện thoại tạo nhiều giao dịch trong mẫu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Dịch vụ nạp điện thoại xuất hiện 4 lần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Thanh toán học phí có giá trị giao dịch lớn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Ưu tiên theo dõi phí theo từng nhóm dịch vụ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PayKX | Báo cáo đối soát tháng 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65D"/>
                </a:solidFill>
                <a:latin typeface="Arial"/>
              </a:defRPr>
            </a:pPr>
            <a:r>
              <a:t>Học phí đóng góp giá trị giao dịch lớn nhất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PayKX | Báo cáo đối soát tháng 10/2026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63040"/>
          <a:ext cx="107899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65D"/>
                </a:solidFill>
                <a:latin typeface="Arial"/>
              </a:defRPr>
            </a:pPr>
            <a:r>
              <a:t>Phí đối tác chiếm tỷ lệ nhỏ so với giá trị giao dịch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Phí cần được đối soát theo đúng mã giao dịch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Sai lệch phí nhỏ vẫn có thể ảnh hưởng báo cáo cuối tháng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Không dùng bảng số liệu thô thay cho biểu đồ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PayKX | Báo cáo đối soát tháng 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65D"/>
                </a:solidFill>
                <a:latin typeface="Arial"/>
              </a:defRPr>
            </a:pPr>
            <a:r>
              <a:t>Giao dịch thất bại phải được loại khỏi doanh thu thực nhận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TX1012 đang ở trạng thái Thất bại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TX1006 đang xử lý, cần theo dõi trước khi chốt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Báo cáo chính thức cần phân loại theo trạng thái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PayKX | Báo cáo đối soát tháng 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65D"/>
                </a:solidFill>
                <a:latin typeface="Arial"/>
              </a:defRPr>
            </a:pPr>
            <a:r>
              <a:t>VLOOKUP khớp chính xác giúp giảm nhầm người dùng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Dùng TRIM để loại khoảng trắng đầu và cuối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Dùng VLOOKUP với tham số FALSE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Dùng IFERROR để hiển thị thông báo khi không tìm thấy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PayKX | Báo cáo đối soát tháng 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65D"/>
                </a:solidFill>
                <a:latin typeface="Arial"/>
              </a:defRPr>
            </a:pPr>
            <a:r>
              <a:t>Bốn bước kiểm tra giúp xử lý lỗi #N/A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1. Kiểm tra mã có tồn tại trong bảng tra cứu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2. Dùng TRIM và loại khoảng trắng thừa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3. Kiểm tra vùng tra cứu và số thứ tự cột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4. Kiểm tra kiểu dữ liệu và ký tự ẩn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PayKX | Báo cáo đối soát tháng 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65D"/>
                </a:solidFill>
                <a:latin typeface="Arial"/>
              </a:defRPr>
            </a:pPr>
            <a:r>
              <a:t>Chuẩn hóa dữ liệu giúp đối soát đáng tin cậy hơn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Mỗi hàng là một Record, mỗi cột là một Field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Không Merge Cell và không chèn hàng trống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Bật AutoFilter để rà soát theo dịch vụ, trạng thái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PayKX | Báo cáo đối soát tháng 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65D"/>
                </a:solidFill>
                <a:latin typeface="Arial"/>
              </a:defRPr>
            </a:pPr>
            <a:r>
              <a:t>Ưu tiên tháng tới là giảm sai lệch và hoàn tiền trùng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Chuẩn hóa mã giao dịch ngay khi nhập dữ liệu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Đối soát phí theo đối tác trước khi chốt báo cáo</a:t>
            </a:r>
          </a:p>
          <a:p>
            <a:pPr>
              <a:spcAft>
                <a:spcPts val="1500"/>
              </a:spcAft>
              <a:defRPr sz="3000">
                <a:solidFill>
                  <a:srgbClr val="505050"/>
                </a:solidFill>
                <a:latin typeface="Arial"/>
              </a:defRPr>
            </a:pPr>
            <a:r>
              <a:t>Kiểm thử trường hợp hoàn tiền lặp và giao dịch thất bại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PayKX | Báo cáo đối soát tháng 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rial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